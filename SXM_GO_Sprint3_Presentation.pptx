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66" r:id="rId3"/>
    <p:sldId id="260" r:id="rId4"/>
    <p:sldId id="261" r:id="rId5"/>
    <p:sldId id="269" r:id="rId6"/>
    <p:sldId id="263" r:id="rId7"/>
    <p:sldId id="270" r:id="rId8"/>
    <p:sldId id="267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  <a:srgbClr val="E8503A"/>
    <a:srgbClr val="C43E2A"/>
    <a:srgbClr val="0D1B2A"/>
    <a:srgbClr val="1A2F45"/>
    <a:srgbClr val="1B6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1126A-453F-141F-0423-1370FC222DDB}" v="5" dt="2026-04-20T22:55:54.628"/>
    <p1510:client id="{41429230-9746-8063-6ED8-E9268B5223A2}" v="92" dt="2026-04-20T17:58:43.097"/>
    <p1510:client id="{4F038386-5E21-9D2E-9524-8A261F7BA0D1}" v="34" dt="2026-04-20T21:39:19.050"/>
    <p1510:client id="{833A9A0D-6916-8827-6C76-36CB0EF205A4}" v="480" dt="2026-04-20T22:27:24.131"/>
    <p1510:client id="{914044D0-4E3F-90F4-0BA0-3E7D6F8A9D41}" v="4" dt="2026-04-21T02:18:49.462"/>
    <p1510:client id="{B8E25721-1087-9697-26BC-3B9CEACC84B0}" v="201" dt="2026-04-20T22:47:03.589"/>
    <p1510:client id="{BEEF2134-9A5F-610A-6492-A5EDFE14C993}" v="14" dt="2026-04-21T02:38:29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45D21-7685-46EF-A8A9-FA1A05D3A845}" type="datetimeFigureOut"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A56B4-663F-4A05-93CE-06B28B1222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49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2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37632" y="0"/>
            <a:ext cx="97536" cy="6858000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853440"/>
            <a:ext cx="487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SXM GO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365760" y="2133600"/>
            <a:ext cx="487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67" i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Island Exploration</a:t>
            </a:r>
            <a:endParaRPr lang="en-US" sz="1867"/>
          </a:p>
        </p:txBody>
      </p:sp>
      <p:sp>
        <p:nvSpPr>
          <p:cNvPr id="6" name="Shape 4"/>
          <p:cNvSpPr/>
          <p:nvPr/>
        </p:nvSpPr>
        <p:spPr>
          <a:xfrm>
            <a:off x="365760" y="2682240"/>
            <a:ext cx="1950720" cy="54864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365760" y="4352544"/>
            <a:ext cx="201168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Knipe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2865120" y="4352544"/>
            <a:ext cx="201168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Kaiden Vandegrift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65760" y="6022848"/>
            <a:ext cx="201168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Skoczylas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865120" y="6022848"/>
            <a:ext cx="201168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Han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730240" y="609600"/>
            <a:ext cx="6217920" cy="1524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50" b="1">
                <a:solidFill>
                  <a:srgbClr val="E8614A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SPRINT 3</a:t>
            </a:r>
            <a:endParaRPr lang="en-US" sz="9066"/>
          </a:p>
        </p:txBody>
      </p:sp>
      <p:sp>
        <p:nvSpPr>
          <p:cNvPr id="16" name="Text 14"/>
          <p:cNvSpPr/>
          <p:nvPr/>
        </p:nvSpPr>
        <p:spPr>
          <a:xfrm>
            <a:off x="5730240" y="2048256"/>
            <a:ext cx="621792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33" b="1" kern="0" spc="10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933"/>
          </a:p>
        </p:txBody>
      </p:sp>
      <p:sp>
        <p:nvSpPr>
          <p:cNvPr id="17" name="Shape 15"/>
          <p:cNvSpPr/>
          <p:nvPr/>
        </p:nvSpPr>
        <p:spPr>
          <a:xfrm>
            <a:off x="5669280" y="2804160"/>
            <a:ext cx="6217920" cy="3072384"/>
          </a:xfrm>
          <a:prstGeom prst="rect">
            <a:avLst/>
          </a:prstGeom>
          <a:solidFill>
            <a:srgbClr val="1A2E4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5913120" y="2950464"/>
            <a:ext cx="573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67" b="1" kern="0" spc="400">
                <a:solidFill>
                  <a:srgbClr val="F4A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67"/>
          </a:p>
        </p:txBody>
      </p:sp>
      <p:sp>
        <p:nvSpPr>
          <p:cNvPr id="19" name="Text 17"/>
          <p:cNvSpPr/>
          <p:nvPr/>
        </p:nvSpPr>
        <p:spPr>
          <a:xfrm>
            <a:off x="5913120" y="3364992"/>
            <a:ext cx="5730240" cy="23164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2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Skoczylas (Dev 1) – Core Auth &amp; User Management</a:t>
            </a:r>
            <a:endParaRPr lang="en-US" sz="2133"/>
          </a:p>
          <a:p>
            <a:pPr marL="457189" indent="-457189">
              <a:buSzPct val="100000"/>
              <a:buChar char="•"/>
            </a:pPr>
            <a:r>
              <a:rPr lang="en-US" sz="2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Kaiden Vandegrift (Dev 2) – Map, Location &amp; Check-In</a:t>
            </a:r>
            <a:endParaRPr lang="en-US" sz="2133"/>
          </a:p>
          <a:p>
            <a:pPr marL="457189" indent="-457189">
              <a:buSzPct val="100000"/>
              <a:buChar char="•"/>
            </a:pPr>
            <a:r>
              <a:rPr lang="en-US" sz="2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Knipe (Dev 3) – Gamification Engine</a:t>
            </a:r>
            <a:endParaRPr lang="en-US" sz="2133"/>
          </a:p>
          <a:p>
            <a:pPr marL="457189" indent="-457189">
              <a:buSzPct val="100000"/>
              <a:buChar char="•"/>
            </a:pPr>
            <a:r>
              <a:rPr lang="en-US" sz="2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Han (Dev 4) – Social Features &amp; Leaderboards</a:t>
            </a:r>
            <a:endParaRPr lang="en-US" sz="2133"/>
          </a:p>
        </p:txBody>
      </p:sp>
      <p:sp>
        <p:nvSpPr>
          <p:cNvPr id="20" name="Text 18"/>
          <p:cNvSpPr/>
          <p:nvPr/>
        </p:nvSpPr>
        <p:spPr>
          <a:xfrm>
            <a:off x="5669280" y="6071616"/>
            <a:ext cx="621792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https://sxmgo.vercel.app/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https://github.com/OliverSkoczylas/SXM-GO</a:t>
            </a:r>
            <a:endParaRPr lang="en-US" sz="12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52A430-BEE6-6490-F5EE-D5F6CFF19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32" y="2950464"/>
            <a:ext cx="4062441" cy="387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7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030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 kern="0" spc="267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PRIORITIZED SPRINT 3 GOALS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92000" cy="4876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3840" y="1036320"/>
            <a:ext cx="5730240" cy="1524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3840" y="1036320"/>
            <a:ext cx="670560" cy="15240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3840" y="1036320"/>
            <a:ext cx="670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solidFill>
                  <a:srgbClr val="FFFFFF"/>
                </a:solidFill>
              </a:rPr>
              <a:t>P1</a:t>
            </a:r>
            <a:endParaRPr lang="en-US" sz="2133"/>
          </a:p>
        </p:txBody>
      </p:sp>
      <p:sp>
        <p:nvSpPr>
          <p:cNvPr id="7" name="Text 5"/>
          <p:cNvSpPr/>
          <p:nvPr/>
        </p:nvSpPr>
        <p:spPr>
          <a:xfrm>
            <a:off x="1036320" y="1109472"/>
            <a:ext cx="4815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Itinerary Builder UI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36320" y="1548384"/>
            <a:ext cx="4815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Full itinerary creation and editing UI (3–20 stops); pre-made routes: Foodie, Beach Hopper, Cultural Explorer; share via unique link + QR code.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036320" y="2255520"/>
            <a:ext cx="4815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>
                <a:solidFill>
                  <a:srgbClr val="E8503A"/>
                </a:solidFill>
              </a:rPr>
              <a:t>Owner: Dev 4</a:t>
            </a:r>
            <a:endParaRPr lang="en-US" sz="1133"/>
          </a:p>
        </p:txBody>
      </p:sp>
      <p:sp>
        <p:nvSpPr>
          <p:cNvPr id="10" name="Shape 8"/>
          <p:cNvSpPr/>
          <p:nvPr/>
        </p:nvSpPr>
        <p:spPr>
          <a:xfrm>
            <a:off x="6217920" y="1036320"/>
            <a:ext cx="5730240" cy="1524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036320"/>
            <a:ext cx="670560" cy="15240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036320"/>
            <a:ext cx="670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solidFill>
                  <a:srgbClr val="FFFFFF"/>
                </a:solidFill>
              </a:rPr>
              <a:t>P1</a:t>
            </a:r>
            <a:endParaRPr lang="en-US" sz="2133"/>
          </a:p>
        </p:txBody>
      </p:sp>
      <p:sp>
        <p:nvSpPr>
          <p:cNvPr id="13" name="Text 11"/>
          <p:cNvSpPr/>
          <p:nvPr/>
        </p:nvSpPr>
        <p:spPr>
          <a:xfrm>
            <a:off x="7010400" y="1109472"/>
            <a:ext cx="4815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Activity Route Tracking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010400" y="1548384"/>
            <a:ext cx="4815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GPS start/stop route recording; route displayed on map; activity statistics: distance, duration, pace, elevation.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7010400" y="2255520"/>
            <a:ext cx="4815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>
                <a:solidFill>
                  <a:srgbClr val="E8503A"/>
                </a:solidFill>
              </a:rPr>
              <a:t>Owner: Dev 3</a:t>
            </a:r>
            <a:endParaRPr lang="en-US" sz="1133"/>
          </a:p>
        </p:txBody>
      </p:sp>
      <p:sp>
        <p:nvSpPr>
          <p:cNvPr id="16" name="Shape 14"/>
          <p:cNvSpPr/>
          <p:nvPr/>
        </p:nvSpPr>
        <p:spPr>
          <a:xfrm>
            <a:off x="243840" y="2804160"/>
            <a:ext cx="5730240" cy="1524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3840" y="2804160"/>
            <a:ext cx="670560" cy="152400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3840" y="2804160"/>
            <a:ext cx="670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solidFill>
                  <a:srgbClr val="FFFFFF"/>
                </a:solidFill>
              </a:rPr>
              <a:t>P1</a:t>
            </a:r>
            <a:endParaRPr lang="en-US" sz="2133"/>
          </a:p>
        </p:txBody>
      </p:sp>
      <p:sp>
        <p:nvSpPr>
          <p:cNvPr id="19" name="Text 17"/>
          <p:cNvSpPr/>
          <p:nvPr/>
        </p:nvSpPr>
        <p:spPr>
          <a:xfrm>
            <a:off x="1036320" y="2877312"/>
            <a:ext cx="4815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Friend System &amp; Groups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1036320" y="3316224"/>
            <a:ext cx="4815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Friend search, requests, and profiles; group competition with invite codes and group leaderboard.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036320" y="4023360"/>
            <a:ext cx="4815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>
                <a:solidFill>
                  <a:srgbClr val="E8503A"/>
                </a:solidFill>
              </a:rPr>
              <a:t>Owner: Dev 1 &amp; Dev 4</a:t>
            </a:r>
            <a:endParaRPr lang="en-US" sz="1133"/>
          </a:p>
        </p:txBody>
      </p:sp>
      <p:sp>
        <p:nvSpPr>
          <p:cNvPr id="22" name="Shape 20"/>
          <p:cNvSpPr/>
          <p:nvPr/>
        </p:nvSpPr>
        <p:spPr>
          <a:xfrm>
            <a:off x="6217920" y="2804160"/>
            <a:ext cx="5730240" cy="1524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2804160"/>
            <a:ext cx="670560" cy="152400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2804160"/>
            <a:ext cx="670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solidFill>
                  <a:srgbClr val="FFFFFF"/>
                </a:solidFill>
              </a:rPr>
              <a:t>P2</a:t>
            </a:r>
            <a:endParaRPr lang="en-US" sz="2133"/>
          </a:p>
        </p:txBody>
      </p:sp>
      <p:sp>
        <p:nvSpPr>
          <p:cNvPr id="25" name="Text 23"/>
          <p:cNvSpPr/>
          <p:nvPr/>
        </p:nvSpPr>
        <p:spPr>
          <a:xfrm>
            <a:off x="7010400" y="2877312"/>
            <a:ext cx="4815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Full Push Notification Pipeline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7010400" y="3316224"/>
            <a:ext cx="4815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End-to-end FCM/APNs delivery for badge, challenge, and leaderboard events; &lt;30s delivery SLA.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010400" y="4023360"/>
            <a:ext cx="4815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>
                <a:solidFill>
                  <a:srgbClr val="E8503A"/>
                </a:solidFill>
              </a:rPr>
              <a:t>Owner: Dev 4</a:t>
            </a:r>
            <a:endParaRPr lang="en-US" sz="1133"/>
          </a:p>
        </p:txBody>
      </p:sp>
      <p:sp>
        <p:nvSpPr>
          <p:cNvPr id="28" name="Shape 26"/>
          <p:cNvSpPr/>
          <p:nvPr/>
        </p:nvSpPr>
        <p:spPr>
          <a:xfrm>
            <a:off x="243840" y="4572000"/>
            <a:ext cx="5730240" cy="1524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43840" y="4572000"/>
            <a:ext cx="670560" cy="152400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3840" y="4572000"/>
            <a:ext cx="670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solidFill>
                  <a:srgbClr val="FFFFFF"/>
                </a:solidFill>
              </a:rPr>
              <a:t>P2</a:t>
            </a:r>
            <a:endParaRPr lang="en-US" sz="2133"/>
          </a:p>
        </p:txBody>
      </p:sp>
      <p:sp>
        <p:nvSpPr>
          <p:cNvPr id="31" name="Text 29"/>
          <p:cNvSpPr/>
          <p:nvPr/>
        </p:nvSpPr>
        <p:spPr>
          <a:xfrm>
            <a:off x="1036320" y="4645152"/>
            <a:ext cx="4815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GDPR/CCPA Compliance + Profile UI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1036320" y="5084064"/>
            <a:ext cx="4815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Data export (JSON), consent controls, deletion; profile update screen (name, photo, preferences).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1036320" y="5791200"/>
            <a:ext cx="4815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>
                <a:solidFill>
                  <a:srgbClr val="E8503A"/>
                </a:solidFill>
              </a:rPr>
              <a:t>Owner: Dev 1</a:t>
            </a:r>
            <a:endParaRPr lang="en-US" sz="1133"/>
          </a:p>
        </p:txBody>
      </p:sp>
      <p:sp>
        <p:nvSpPr>
          <p:cNvPr id="34" name="Shape 32"/>
          <p:cNvSpPr/>
          <p:nvPr/>
        </p:nvSpPr>
        <p:spPr>
          <a:xfrm>
            <a:off x="6217920" y="4572000"/>
            <a:ext cx="5730240" cy="1524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7920" y="4572000"/>
            <a:ext cx="670560" cy="1524000"/>
          </a:xfrm>
          <a:prstGeom prst="rect">
            <a:avLst/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4572000"/>
            <a:ext cx="670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>
                <a:solidFill>
                  <a:srgbClr val="FFFFFF"/>
                </a:solidFill>
              </a:rPr>
              <a:t>P3</a:t>
            </a:r>
            <a:endParaRPr lang="en-US" sz="2133"/>
          </a:p>
        </p:txBody>
      </p:sp>
      <p:sp>
        <p:nvSpPr>
          <p:cNvPr id="37" name="Text 35"/>
          <p:cNvSpPr/>
          <p:nvPr/>
        </p:nvSpPr>
        <p:spPr>
          <a:xfrm>
            <a:off x="7010400" y="4645152"/>
            <a:ext cx="4815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Map Polish &amp; Infra</a:t>
            </a:r>
            <a:endParaRPr lang="en-US" sz="1800"/>
          </a:p>
        </p:txBody>
      </p:sp>
      <p:sp>
        <p:nvSpPr>
          <p:cNvPr id="38" name="Text 36"/>
          <p:cNvSpPr/>
          <p:nvPr/>
        </p:nvSpPr>
        <p:spPr>
          <a:xfrm>
            <a:off x="7010400" y="5084064"/>
            <a:ext cx="48158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Route overlay on map; location detail view polish; clustering for 50+ pins; Supabase paid tier upgrade; WCAG 2.1 AA accessibility audit.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7010400" y="5791200"/>
            <a:ext cx="4815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>
                <a:solidFill>
                  <a:srgbClr val="E8503A"/>
                </a:solidFill>
              </a:rPr>
              <a:t>Owner: Dev 2 / All</a:t>
            </a:r>
            <a:endParaRPr lang="en-US" sz="1133"/>
          </a:p>
        </p:txBody>
      </p:sp>
    </p:spTree>
    <p:extLst>
      <p:ext uri="{BB962C8B-B14F-4D97-AF65-F5344CB8AC3E}">
        <p14:creationId xmlns:p14="http://schemas.microsoft.com/office/powerpoint/2010/main" val="2505825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030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kern="0" spc="267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BACKLOG · SPRINT BACKLOG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92000" cy="4876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3840" y="1036320"/>
            <a:ext cx="5364480" cy="5669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6720" y="109728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E8503A"/>
                </a:solidFill>
              </a:rPr>
              <a:t>PROJECT BACKLOG (Selected Items)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26720" y="1560576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FR-001–013  User Auth &amp; Profiles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023360" y="1622044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0" y="1609344"/>
            <a:ext cx="14020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26720" y="201168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FR-014–026  Map, Locations &amp; Check-In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023360" y="2060448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2073148"/>
            <a:ext cx="14020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26720" y="2462784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FR-027–035  GPS Anti-Fraud &amp; Security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4023360" y="2511552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0" y="2524252"/>
            <a:ext cx="14020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426720" y="2913888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FR-036–043  Points, Badges &amp; Challenges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023360" y="2962656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0" y="2975356"/>
            <a:ext cx="14020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26720" y="3364992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FR-072–075  Leaderboard System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023360" y="3413760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3426460"/>
            <a:ext cx="14020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26720" y="3816096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FR-044–058  Itinerary System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023360" y="3877564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6720" y="426720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FR-084–096  Activity / Route Tracking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4023360" y="4315968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0" y="4366768"/>
            <a:ext cx="14020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6720" y="4718304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FR-097–103  Social Features &amp; Friends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4023360" y="3878072"/>
            <a:ext cx="14020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6720" y="5169408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TR-027–035  GDPR / Compliance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4023360" y="5218176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13120" y="1036320"/>
            <a:ext cx="6035040" cy="5669280"/>
          </a:xfrm>
          <a:prstGeom prst="rect">
            <a:avLst/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96000" y="1097280"/>
            <a:ext cx="560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E8503A"/>
                </a:solidFill>
              </a:rPr>
              <a:t>SPRINT 3 BACKLOG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6096000" y="1633728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39840" y="1524000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Itinerary Builder UI (create, edit, share)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10058400" y="1524000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4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6096000" y="2008023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39840" y="1898295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Pre-made itineraries (Foodie, Beach, Cultural)</a:t>
            </a: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10058400" y="1898295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4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6096000" y="2382317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39840" y="2272589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Full push notification delivery pipeline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10058400" y="2272589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4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6096000" y="2756611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39840" y="2646883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Group competition &amp; invite code system</a:t>
            </a:r>
            <a:endParaRPr lang="en-US" sz="1400"/>
          </a:p>
        </p:txBody>
      </p:sp>
      <p:sp>
        <p:nvSpPr>
          <p:cNvPr id="46" name="Text 44"/>
          <p:cNvSpPr/>
          <p:nvPr/>
        </p:nvSpPr>
        <p:spPr>
          <a:xfrm>
            <a:off x="10058400" y="2646883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4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6096000" y="3130905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39840" y="3021177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Friend system UI (search, requests, profiles)</a:t>
            </a:r>
            <a:endParaRPr lang="en-US" sz="1400"/>
          </a:p>
        </p:txBody>
      </p:sp>
      <p:sp>
        <p:nvSpPr>
          <p:cNvPr id="49" name="Text 47"/>
          <p:cNvSpPr/>
          <p:nvPr/>
        </p:nvSpPr>
        <p:spPr>
          <a:xfrm>
            <a:off x="10058400" y="3021177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1 &amp; 4</a:t>
            </a:r>
            <a:endParaRPr lang="en-US" sz="1200"/>
          </a:p>
        </p:txBody>
      </p:sp>
      <p:sp>
        <p:nvSpPr>
          <p:cNvPr id="50" name="Shape 48"/>
          <p:cNvSpPr/>
          <p:nvPr/>
        </p:nvSpPr>
        <p:spPr>
          <a:xfrm>
            <a:off x="6096000" y="3505200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39840" y="3395472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Friend system backend (send/accept/decline)</a:t>
            </a:r>
            <a:endParaRPr lang="en-US" sz="1400"/>
          </a:p>
        </p:txBody>
      </p:sp>
      <p:sp>
        <p:nvSpPr>
          <p:cNvPr id="52" name="Text 50"/>
          <p:cNvSpPr/>
          <p:nvPr/>
        </p:nvSpPr>
        <p:spPr>
          <a:xfrm>
            <a:off x="10058400" y="3395472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1</a:t>
            </a:r>
            <a:endParaRPr lang="en-US" sz="1200"/>
          </a:p>
        </p:txBody>
      </p:sp>
      <p:sp>
        <p:nvSpPr>
          <p:cNvPr id="53" name="Shape 51"/>
          <p:cNvSpPr/>
          <p:nvPr/>
        </p:nvSpPr>
        <p:spPr>
          <a:xfrm>
            <a:off x="6096000" y="3879495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39840" y="3769767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GPS activity route tracking (start/stop)</a:t>
            </a:r>
            <a:endParaRPr lang="en-US" sz="1400"/>
          </a:p>
        </p:txBody>
      </p:sp>
      <p:sp>
        <p:nvSpPr>
          <p:cNvPr id="55" name="Text 53"/>
          <p:cNvSpPr/>
          <p:nvPr/>
        </p:nvSpPr>
        <p:spPr>
          <a:xfrm>
            <a:off x="10058400" y="3769767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2</a:t>
            </a:r>
            <a:endParaRPr lang="en-US" sz="1200"/>
          </a:p>
        </p:txBody>
      </p:sp>
      <p:sp>
        <p:nvSpPr>
          <p:cNvPr id="56" name="Shape 54"/>
          <p:cNvSpPr/>
          <p:nvPr/>
        </p:nvSpPr>
        <p:spPr>
          <a:xfrm>
            <a:off x="6096000" y="4253789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39840" y="4144061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Activity statistics screen</a:t>
            </a:r>
            <a:endParaRPr lang="en-US" sz="1400"/>
          </a:p>
        </p:txBody>
      </p:sp>
      <p:sp>
        <p:nvSpPr>
          <p:cNvPr id="58" name="Text 56"/>
          <p:cNvSpPr/>
          <p:nvPr/>
        </p:nvSpPr>
        <p:spPr>
          <a:xfrm>
            <a:off x="10058400" y="4144061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2</a:t>
            </a:r>
            <a:endParaRPr lang="en-US" sz="1200"/>
          </a:p>
        </p:txBody>
      </p:sp>
      <p:sp>
        <p:nvSpPr>
          <p:cNvPr id="59" name="Shape 57"/>
          <p:cNvSpPr/>
          <p:nvPr/>
        </p:nvSpPr>
        <p:spPr>
          <a:xfrm>
            <a:off x="6096000" y="4628083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39840" y="4518355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Streak bonus &amp; badge tier UI</a:t>
            </a:r>
            <a:endParaRPr lang="en-US" sz="1400"/>
          </a:p>
        </p:txBody>
      </p:sp>
      <p:sp>
        <p:nvSpPr>
          <p:cNvPr id="61" name="Text 59"/>
          <p:cNvSpPr/>
          <p:nvPr/>
        </p:nvSpPr>
        <p:spPr>
          <a:xfrm>
            <a:off x="10058400" y="4518355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3</a:t>
            </a:r>
            <a:endParaRPr lang="en-US" sz="1200"/>
          </a:p>
        </p:txBody>
      </p:sp>
      <p:sp>
        <p:nvSpPr>
          <p:cNvPr id="62" name="Shape 60"/>
          <p:cNvSpPr/>
          <p:nvPr/>
        </p:nvSpPr>
        <p:spPr>
          <a:xfrm>
            <a:off x="6096000" y="5002377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39840" y="4892649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Route visualization overlay on map</a:t>
            </a:r>
            <a:endParaRPr lang="en-US" sz="1400"/>
          </a:p>
        </p:txBody>
      </p:sp>
      <p:sp>
        <p:nvSpPr>
          <p:cNvPr id="64" name="Text 62"/>
          <p:cNvSpPr/>
          <p:nvPr/>
        </p:nvSpPr>
        <p:spPr>
          <a:xfrm>
            <a:off x="10058400" y="4892649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2</a:t>
            </a:r>
            <a:endParaRPr lang="en-US" sz="1200"/>
          </a:p>
        </p:txBody>
      </p:sp>
      <p:sp>
        <p:nvSpPr>
          <p:cNvPr id="65" name="Shape 63"/>
          <p:cNvSpPr/>
          <p:nvPr/>
        </p:nvSpPr>
        <p:spPr>
          <a:xfrm>
            <a:off x="6096000" y="5376672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39840" y="5266944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Location detail view polish</a:t>
            </a:r>
            <a:endParaRPr lang="en-US" sz="1400"/>
          </a:p>
        </p:txBody>
      </p:sp>
      <p:sp>
        <p:nvSpPr>
          <p:cNvPr id="67" name="Text 65"/>
          <p:cNvSpPr/>
          <p:nvPr/>
        </p:nvSpPr>
        <p:spPr>
          <a:xfrm>
            <a:off x="10058400" y="5266944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2</a:t>
            </a:r>
            <a:endParaRPr lang="en-US" sz="1200"/>
          </a:p>
        </p:txBody>
      </p:sp>
      <p:sp>
        <p:nvSpPr>
          <p:cNvPr id="68" name="Shape 66"/>
          <p:cNvSpPr/>
          <p:nvPr/>
        </p:nvSpPr>
        <p:spPr>
          <a:xfrm>
            <a:off x="6096000" y="5750967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39840" y="5641239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Profile update UI &amp; GDPR compliance</a:t>
            </a:r>
            <a:endParaRPr lang="en-US" sz="1400"/>
          </a:p>
        </p:txBody>
      </p:sp>
      <p:sp>
        <p:nvSpPr>
          <p:cNvPr id="70" name="Text 68"/>
          <p:cNvSpPr/>
          <p:nvPr/>
        </p:nvSpPr>
        <p:spPr>
          <a:xfrm>
            <a:off x="10058400" y="5641239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1</a:t>
            </a:r>
            <a:endParaRPr lang="en-US" sz="1200"/>
          </a:p>
        </p:txBody>
      </p:sp>
      <p:sp>
        <p:nvSpPr>
          <p:cNvPr id="71" name="Shape 69"/>
          <p:cNvSpPr/>
          <p:nvPr/>
        </p:nvSpPr>
        <p:spPr>
          <a:xfrm>
            <a:off x="6096000" y="6125261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39840" y="6015533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Supabase paid tier + clustering</a:t>
            </a:r>
            <a:endParaRPr lang="en-US" sz="1400"/>
          </a:p>
        </p:txBody>
      </p:sp>
      <p:sp>
        <p:nvSpPr>
          <p:cNvPr id="73" name="Text 71"/>
          <p:cNvSpPr/>
          <p:nvPr/>
        </p:nvSpPr>
        <p:spPr>
          <a:xfrm>
            <a:off x="10058400" y="6015533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Dev 2</a:t>
            </a:r>
            <a:endParaRPr lang="en-US" sz="1200"/>
          </a:p>
        </p:txBody>
      </p:sp>
      <p:sp>
        <p:nvSpPr>
          <p:cNvPr id="74" name="Shape 72"/>
          <p:cNvSpPr/>
          <p:nvPr/>
        </p:nvSpPr>
        <p:spPr>
          <a:xfrm>
            <a:off x="6096000" y="6499555"/>
            <a:ext cx="121920" cy="121920"/>
          </a:xfrm>
          <a:prstGeom prst="ellipse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339840" y="6389827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E8EDF2"/>
                </a:solidFill>
              </a:rPr>
              <a:t>Accessibility audit (WCAG 2.1 AA)</a:t>
            </a:r>
            <a:endParaRPr lang="en-US" sz="1400"/>
          </a:p>
        </p:txBody>
      </p:sp>
      <p:sp>
        <p:nvSpPr>
          <p:cNvPr id="76" name="Text 74"/>
          <p:cNvSpPr/>
          <p:nvPr/>
        </p:nvSpPr>
        <p:spPr>
          <a:xfrm>
            <a:off x="10058400" y="6389827"/>
            <a:ext cx="1706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>
                <a:solidFill>
                  <a:srgbClr val="E8503A"/>
                </a:solidFill>
              </a:rPr>
              <a:t>All</a:t>
            </a:r>
            <a:endParaRPr lang="en-US" sz="1200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B5671C1C-1A57-0C01-DFC5-E16667B7C8EC}"/>
              </a:ext>
            </a:extLst>
          </p:cNvPr>
          <p:cNvSpPr/>
          <p:nvPr/>
        </p:nvSpPr>
        <p:spPr>
          <a:xfrm>
            <a:off x="4023360" y="4799075"/>
            <a:ext cx="1402080" cy="268224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23360" y="4824476"/>
            <a:ext cx="14020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0" y="5261864"/>
            <a:ext cx="14020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030"/>
          </a:solidFill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 kern="0" spc="267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CYBERSECURITY ASSESSMENT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92000" cy="4876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3840" y="1036320"/>
            <a:ext cx="5730240" cy="6096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3840" y="1645920"/>
            <a:ext cx="5730240" cy="2072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6720" y="1133856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Authentication Security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4632960" y="1158240"/>
            <a:ext cx="121920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2960" y="1158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COMPLETE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26720" y="1731264"/>
            <a:ext cx="5425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Passwords bcrypt hashed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JWTs in Keychain/Keystore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Sessions expire 30d; rate limiting 5/min on login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Google &amp; Apple OAuth live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036320"/>
            <a:ext cx="5730240" cy="609600"/>
          </a:xfrm>
          <a:prstGeom prst="rect">
            <a:avLst/>
          </a:prstGeom>
          <a:solidFill>
            <a:srgbClr val="3A2A10"/>
          </a:solidFill>
          <a:ln w="12700">
            <a:solidFill>
              <a:srgbClr val="3A2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730240" cy="2072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133856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Data Privacy &amp; GDPR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10607040" y="1158240"/>
            <a:ext cx="1219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07040" y="11582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IN PROGRESS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6400800" y="1731264"/>
            <a:ext cx="5425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HTTPS/TLS 1.3 on all endpoints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GDPR data export endpoint (Sprint 3)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CCPA consent controls (Sprint 3)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User deletion operational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3840" y="3901440"/>
            <a:ext cx="5730240" cy="6096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3840" y="4511040"/>
            <a:ext cx="5730240" cy="2072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6720" y="3998976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GPS Anti-Fraud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4632960" y="4023360"/>
            <a:ext cx="121920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32960" y="402336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COMPLETE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26720" y="4596384"/>
            <a:ext cx="5425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Impossible-travel-speed detection live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Mock location flag detection active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QR code fallback for poor GPS zones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Manual review queue for flagged check-ins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7920" y="3901440"/>
            <a:ext cx="5730240" cy="609600"/>
          </a:xfrm>
          <a:prstGeom prst="rect">
            <a:avLst/>
          </a:prstGeom>
          <a:solidFill>
            <a:srgbClr val="3A2A10"/>
          </a:solidFill>
          <a:ln w="12700">
            <a:solidFill>
              <a:srgbClr val="3A2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4511040"/>
            <a:ext cx="5730240" cy="2072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3998976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API Security</a:t>
            </a:r>
            <a:endParaRPr lang="en-US" sz="1800"/>
          </a:p>
        </p:txBody>
      </p:sp>
      <p:sp>
        <p:nvSpPr>
          <p:cNvPr id="25" name="Shape 23"/>
          <p:cNvSpPr/>
          <p:nvPr/>
        </p:nvSpPr>
        <p:spPr>
          <a:xfrm>
            <a:off x="10607040" y="4023360"/>
            <a:ext cx="1219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0" y="402336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IN PROGRESS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400800" y="4596384"/>
            <a:ext cx="5425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API keys server-side via proxy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Input validation on all endpoints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SQL injection protection via Supabase ORM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189" indent="-457189">
              <a:buSzPct val="100000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OWASP Top 10 audit planned Sprint 3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030"/>
          </a:solidFill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50" b="1" kern="0" spc="267">
                <a:solidFill>
                  <a:srgbClr val="FFFFFF"/>
                </a:solidFill>
                <a:latin typeface="Arial Black"/>
              </a:rPr>
              <a:t>SPONSOR FEEDBACK</a:t>
            </a:r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92000" cy="4876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175" y="2114829"/>
            <a:ext cx="5364480" cy="277318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055" y="2112289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kern="0" spc="133">
                <a:solidFill>
                  <a:srgbClr val="E8503A"/>
                </a:solidFill>
              </a:rPr>
              <a:t>CURRENT STATE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530055" y="2542974"/>
            <a:ext cx="4998720" cy="234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Sponsor was very satisfied with the current product</a:t>
            </a:r>
            <a:br>
              <a:rPr lang="en-US" sz="1800">
                <a:latin typeface="Calibri"/>
                <a:ea typeface="Calibri"/>
                <a:cs typeface="Calibri"/>
              </a:rPr>
            </a:br>
            <a:endParaRPr lang="en-US" sz="1800">
              <a:solidFill>
                <a:srgbClr val="E8EDF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Faculty advisor liked the current feature set on the user side</a:t>
            </a:r>
            <a:br>
              <a:rPr lang="en-US" sz="1800">
                <a:latin typeface="Calibri"/>
                <a:ea typeface="Calibri"/>
                <a:cs typeface="Calibri"/>
              </a:rPr>
            </a:br>
            <a:endParaRPr lang="en-US" sz="1800">
              <a:solidFill>
                <a:srgbClr val="E8EDF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E8EDF2"/>
                </a:solidFill>
                <a:latin typeface="Calibri"/>
                <a:ea typeface="Calibri"/>
                <a:cs typeface="Calibri"/>
              </a:rPr>
              <a:t>Only questions were about adding business functionality</a:t>
            </a:r>
          </a:p>
          <a:p>
            <a:pPr marL="285750" indent="-285750">
              <a:buFont typeface="Arial"/>
              <a:buChar char="•"/>
            </a:pPr>
            <a:endParaRPr lang="en-US" sz="1800">
              <a:solidFill>
                <a:srgbClr val="E8ED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43175" y="2114829"/>
            <a:ext cx="5364480" cy="2773184"/>
          </a:xfrm>
          <a:prstGeom prst="rect">
            <a:avLst/>
          </a:prstGeom>
          <a:solidFill>
            <a:srgbClr val="C43E2A"/>
          </a:solidFill>
          <a:ln w="12700">
            <a:solidFill>
              <a:srgbClr val="C43E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6055" y="2112289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kern="0" spc="133">
                <a:solidFill>
                  <a:srgbClr val="FFFFFF"/>
                </a:solidFill>
              </a:rPr>
              <a:t>LOOKING FORWARD</a:t>
            </a: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6055" y="2549169"/>
            <a:ext cx="499872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Next team will be responsible for adding the business portal</a:t>
            </a:r>
            <a:b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endParaRPr lang="en-US" sz="1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456565" indent="-456565"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They will also be in charge of final deployment for the UA team</a:t>
            </a:r>
          </a:p>
        </p:txBody>
      </p:sp>
    </p:spTree>
    <p:extLst>
      <p:ext uri="{BB962C8B-B14F-4D97-AF65-F5344CB8AC3E}">
        <p14:creationId xmlns:p14="http://schemas.microsoft.com/office/powerpoint/2010/main" val="8500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426720" y="61468"/>
            <a:ext cx="11338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LESSONS LEARNED</a:t>
            </a:r>
            <a:endParaRPr lang="en-US" sz="3700">
              <a:latin typeface="Arial Black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4104" y="1190244"/>
            <a:ext cx="11550904" cy="5393436"/>
          </a:xfrm>
          <a:prstGeom prst="rect">
            <a:avLst/>
          </a:prstGeom>
          <a:solidFill>
            <a:srgbClr val="1A2F45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611124" y="1709928"/>
            <a:ext cx="5388864" cy="341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E8503A"/>
                </a:solidFill>
                <a:latin typeface="Calibri"/>
                <a:ea typeface="Calibri"/>
                <a:cs typeface="Calibri"/>
              </a:rPr>
              <a:t>1. OAuth Config Takes Longer Than Estimated</a:t>
            </a:r>
            <a:endParaRPr lang="en-US" sz="2000">
              <a:solidFill>
                <a:srgbClr val="E8503A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3824" y="2114804"/>
            <a:ext cx="538886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edge cases (Apple on Android) require extra time. Budget 1.5× the estimate for OAuth work.</a:t>
            </a: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6524" y="3056636"/>
            <a:ext cx="5388864" cy="341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E8503A"/>
                </a:solidFill>
                <a:latin typeface="Calibri"/>
                <a:ea typeface="Calibri"/>
                <a:cs typeface="Calibri"/>
              </a:rPr>
              <a:t>2. Seed Data Quality Matters Early</a:t>
            </a:r>
            <a:endParaRPr lang="en-US" sz="2000">
              <a:solidFill>
                <a:srgbClr val="E850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" y="3461512"/>
            <a:ext cx="5388864" cy="487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pins slowed Dev 2. Real coordinates should be seeded before frontend pin work starts.</a:t>
            </a:r>
            <a:endParaRPr lang="en-US" sz="1800">
              <a:solidFill>
                <a:srgbClr val="FFFFFF"/>
              </a:solidFill>
              <a:latin typeface="Aptos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6524" y="4390644"/>
            <a:ext cx="5388864" cy="341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E8503A"/>
                </a:solidFill>
                <a:latin typeface="Calibri"/>
                <a:ea typeface="Calibri"/>
                <a:cs typeface="Calibri"/>
              </a:rPr>
              <a:t>3. Security Must Be Sprint 1 Scope</a:t>
            </a:r>
            <a:endParaRPr lang="en-US" sz="2000">
              <a:solidFill>
                <a:srgbClr val="E850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224" y="4986020"/>
            <a:ext cx="538886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rate limiting on all routes should have been in Sprint 1. Retrofitting security costs more than building it in.</a:t>
            </a: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34024" y="1698752"/>
            <a:ext cx="5388864" cy="341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E8503A"/>
                </a:solidFill>
                <a:latin typeface="Calibri"/>
                <a:ea typeface="Calibri"/>
                <a:cs typeface="Calibri"/>
              </a:rPr>
              <a:t>4. Integration Tests Before Demo</a:t>
            </a:r>
            <a:endParaRPr lang="en-US" sz="2000">
              <a:solidFill>
                <a:srgbClr val="E850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46724" y="2256028"/>
            <a:ext cx="538886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→ points → badge pipeline had edge cases found late. Integration tests before sprint review are mandatory.</a:t>
            </a: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46724" y="3007360"/>
            <a:ext cx="5388864" cy="341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E8503A"/>
                </a:solidFill>
                <a:latin typeface="Calibri"/>
                <a:ea typeface="Calibri"/>
                <a:cs typeface="Calibri"/>
              </a:rPr>
              <a:t>5. </a:t>
            </a:r>
            <a:r>
              <a:rPr lang="en-US" sz="2000" b="1" err="1">
                <a:solidFill>
                  <a:srgbClr val="E8503A"/>
                </a:solidFill>
                <a:latin typeface="Calibri"/>
                <a:ea typeface="Calibri"/>
                <a:cs typeface="Calibri"/>
              </a:rPr>
              <a:t>Supabase</a:t>
            </a:r>
            <a:r>
              <a:rPr lang="en-US" sz="2000" b="1">
                <a:solidFill>
                  <a:srgbClr val="E8503A"/>
                </a:solidFill>
                <a:latin typeface="Calibri"/>
                <a:ea typeface="Calibri"/>
                <a:cs typeface="Calibri"/>
              </a:rPr>
              <a:t> Realtime Tier Planning</a:t>
            </a:r>
            <a:endParaRPr lang="en-US" sz="2000">
              <a:solidFill>
                <a:srgbClr val="E850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59424" y="3463036"/>
            <a:ext cx="5388864" cy="487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Free tier connection limits hit during load test. Upgrading to paid tier is required.</a:t>
            </a:r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F99AF934-C2E5-0F7B-EBED-7CDC3D80FA59}"/>
              </a:ext>
            </a:extLst>
          </p:cNvPr>
          <p:cNvSpPr/>
          <p:nvPr/>
        </p:nvSpPr>
        <p:spPr>
          <a:xfrm>
            <a:off x="0" y="914400"/>
            <a:ext cx="12192000" cy="4876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6720" y="61468"/>
            <a:ext cx="113385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dirty="0">
                <a:solidFill>
                  <a:srgbClr val="FFFFFF"/>
                </a:solidFill>
              </a:rPr>
              <a:t>  ACCESSIBILITY &amp; INCLUSIVE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2000" cy="48768"/>
          </a:xfrm>
          <a:prstGeom prst="rect">
            <a:avLst/>
          </a:prstGeom>
          <a:solidFill>
            <a:srgbClr val="E8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548" y="1189898"/>
            <a:ext cx="11550904" cy="5393436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406055"/>
            <a:ext cx="53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8503A"/>
                </a:solidFill>
              </a:rPr>
              <a:t>1. WCAG 2.1 AA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842" y="1825304"/>
            <a:ext cx="53768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FFFFFF"/>
                </a:solidFill>
              </a:rPr>
              <a:t>Touch targets minimum 44 x 44 pt; color contrast 4.5:1 for body text, 3:1 for large text.</a:t>
            </a:r>
          </a:p>
          <a:p>
            <a:r>
              <a:rPr sz="2000" b="0" dirty="0">
                <a:solidFill>
                  <a:srgbClr val="FFFFFF"/>
                </a:solidFill>
              </a:rPr>
              <a:t>Every interactive element has an accessibility label for </a:t>
            </a:r>
            <a:r>
              <a:rPr sz="2000" b="0" dirty="0" err="1">
                <a:solidFill>
                  <a:srgbClr val="FFFFFF"/>
                </a:solidFill>
              </a:rPr>
              <a:t>TalkBack</a:t>
            </a:r>
            <a:r>
              <a:rPr sz="2000" b="0" dirty="0">
                <a:solidFill>
                  <a:srgbClr val="FFFFFF"/>
                </a:solidFill>
              </a:rPr>
              <a:t> (Android) and </a:t>
            </a:r>
            <a:r>
              <a:rPr sz="2000" b="0" dirty="0" err="1">
                <a:solidFill>
                  <a:srgbClr val="FFFFFF"/>
                </a:solidFill>
              </a:rPr>
              <a:t>VoiceOver</a:t>
            </a:r>
            <a:r>
              <a:rPr sz="2000" b="0" dirty="0">
                <a:solidFill>
                  <a:srgbClr val="FFFFFF"/>
                </a:solidFill>
              </a:rPr>
              <a:t> (iOS).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824" y="3363396"/>
            <a:ext cx="53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8503A"/>
                </a:solidFill>
              </a:rPr>
              <a:t>2. Color-Blind Safe Palette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100" y="3893603"/>
            <a:ext cx="5376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FFFFFF"/>
                </a:solidFill>
              </a:rPr>
              <a:t>Palette tested against deuteranopia and protanopia simulations before finalizing.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124" y="4882752"/>
            <a:ext cx="53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8503A"/>
                </a:solidFill>
              </a:rPr>
              <a:t>3. Scalable Typography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632" y="5453633"/>
            <a:ext cx="5376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FFFFFF"/>
                </a:solidFill>
              </a:rPr>
              <a:t>Base font 14–16 </a:t>
            </a:r>
            <a:r>
              <a:rPr sz="2000" b="0" dirty="0" err="1">
                <a:solidFill>
                  <a:srgbClr val="FFFFFF"/>
                </a:solidFill>
              </a:rPr>
              <a:t>sp</a:t>
            </a:r>
            <a:r>
              <a:rPr sz="2000" b="0" dirty="0">
                <a:solidFill>
                  <a:srgbClr val="FFFFFF"/>
                </a:solidFill>
              </a:rPr>
              <a:t>, 1.4x line height. Text scales with OS Dynamic Type / Font Scale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1387954"/>
            <a:ext cx="53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8503A"/>
                </a:solidFill>
              </a:rPr>
              <a:t>4. Multi-Language &amp; RTL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0516" y="1933026"/>
            <a:ext cx="5376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FFFFFF"/>
                </a:solidFill>
              </a:rPr>
              <a:t>All UI strings are externalized to a localization layer</a:t>
            </a:r>
            <a:r>
              <a:rPr lang="en-US" sz="2000" b="0" dirty="0">
                <a:solidFill>
                  <a:srgbClr val="FFFFFF"/>
                </a:solidFill>
              </a:rPr>
              <a:t>,</a:t>
            </a:r>
            <a:r>
              <a:rPr sz="2000" b="0" dirty="0">
                <a:solidFill>
                  <a:srgbClr val="FFFFFF"/>
                </a:solidFill>
              </a:rPr>
              <a:t> no hard-coded English in components.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4024" y="3296376"/>
            <a:ext cx="5388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8503A"/>
                </a:solidFill>
              </a:rPr>
              <a:t>5. Touch &amp; Motor Accessibility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0516" y="3779214"/>
            <a:ext cx="5376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FFFFFF"/>
                </a:solidFill>
              </a:rPr>
              <a:t>Large spaced touch targets with 8 pt minimum gap between all interactive elements.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3496" y="4939678"/>
            <a:ext cx="5833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E8503A"/>
                </a:solidFill>
              </a:rPr>
              <a:t>6. Offline &amp; Low-Bandwidth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4042" y="5438742"/>
            <a:ext cx="5376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FFFFFF"/>
                </a:solidFill>
              </a:rPr>
              <a:t>Leaflet/OpenStreetMap tiles cache offline</a:t>
            </a:r>
            <a:r>
              <a:rPr lang="en-US" sz="2000" b="0" dirty="0">
                <a:solidFill>
                  <a:srgbClr val="FFFFFF"/>
                </a:solidFill>
              </a:rPr>
              <a:t>,</a:t>
            </a:r>
            <a:r>
              <a:rPr sz="2000" b="0" dirty="0">
                <a:solidFill>
                  <a:srgbClr val="FFFFFF"/>
                </a:solidFill>
              </a:rPr>
              <a:t> critical for rural and low-bandwidth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300" y="0"/>
            <a:ext cx="11950700" cy="939800"/>
          </a:xfrm>
          <a:prstGeom prst="rect">
            <a:avLst/>
          </a:prstGeom>
          <a:solidFill>
            <a:srgbClr val="122030"/>
          </a:solidFill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 kern="0" spc="267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CONTRIBUTIONS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92000" cy="48768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3840" y="1036320"/>
            <a:ext cx="5730240" cy="268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3840" y="1036320"/>
            <a:ext cx="5730240" cy="7315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6720" y="1158240"/>
            <a:ext cx="5425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Developer 1 – Oliver Skoczylas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426720" y="1597152"/>
            <a:ext cx="5425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8BA0B4"/>
                </a:solidFill>
              </a:rPr>
              <a:t>Auth, Security &amp; GDPR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426720" y="1902238"/>
            <a:ext cx="1234201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E8503A"/>
                </a:solidFill>
              </a:rPr>
              <a:t>Completing: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26720" y="2170176"/>
            <a:ext cx="5425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Profile update UI, GDPR data export + consent, friend system backend, security audit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217920" y="1036320"/>
            <a:ext cx="5730240" cy="268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036320"/>
            <a:ext cx="573024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158240"/>
            <a:ext cx="5425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Developer 2 – Kaiden Vandegrift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6400800" y="1597152"/>
            <a:ext cx="5425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8BA0B4"/>
                </a:solidFill>
              </a:rPr>
              <a:t>Map, Route &amp; Polish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400800" y="1902238"/>
            <a:ext cx="129968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2196F3"/>
                </a:solidFill>
              </a:rPr>
              <a:t>Completing: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2170176"/>
            <a:ext cx="5425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Route overlay on map, location detail polish, map clustering, Supabase upgrade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243840" y="3901440"/>
            <a:ext cx="5730240" cy="268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3840" y="3901440"/>
            <a:ext cx="57302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6720" y="4023360"/>
            <a:ext cx="5425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Developer 3 – Taylor Knipe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426720" y="4462272"/>
            <a:ext cx="5425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8BA0B4"/>
                </a:solidFill>
              </a:rPr>
              <a:t>Gamification &amp; Activity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426720" y="4767358"/>
            <a:ext cx="118657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22C55E"/>
                </a:solidFill>
              </a:rPr>
              <a:t>Completing: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26720" y="5035296"/>
            <a:ext cx="5425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rgbClr val="E8EDF2"/>
                </a:solidFill>
                <a:ea typeface="Calibri" panose="020F0502020204030204"/>
                <a:cs typeface="Calibri" panose="020F0502020204030204"/>
              </a:rPr>
              <a:t>Project Documentation</a:t>
            </a:r>
            <a:endParaRPr lang="en-US" sz="3600"/>
          </a:p>
          <a:p>
            <a:r>
              <a:rPr lang="en-US" sz="1600">
                <a:solidFill>
                  <a:srgbClr val="E8EDF2"/>
                </a:solidFill>
                <a:ea typeface="Calibri" panose="020F0502020204030204"/>
                <a:cs typeface="Calibri" panose="020F0502020204030204"/>
              </a:rPr>
              <a:t>API Standardization and Docs</a:t>
            </a:r>
            <a:endParaRPr lang="en-US" sz="36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1600">
                <a:solidFill>
                  <a:srgbClr val="E8EDF2"/>
                </a:solidFill>
                <a:ea typeface="Calibri" panose="020F0502020204030204"/>
                <a:cs typeface="Calibri" panose="020F0502020204030204"/>
              </a:rPr>
              <a:t>Test suite for shared components</a:t>
            </a:r>
            <a:endParaRPr lang="en-US" sz="3600"/>
          </a:p>
          <a:p>
            <a:endParaRPr lang="en-US" sz="1600">
              <a:solidFill>
                <a:srgbClr val="E8EDF2"/>
              </a:solidFill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3901440"/>
            <a:ext cx="5730240" cy="2682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3901440"/>
            <a:ext cx="5730240" cy="7315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4023360"/>
            <a:ext cx="5425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Developer 4 – Paul Han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6400800" y="4462272"/>
            <a:ext cx="5425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>
                <a:solidFill>
                  <a:srgbClr val="8BA0B4"/>
                </a:solidFill>
              </a:rPr>
              <a:t>Social, Itineraries &amp; Notifications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6400800" y="4767358"/>
            <a:ext cx="1222295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9C27B0"/>
                </a:solidFill>
              </a:rPr>
              <a:t>Completing: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6400800" y="5035296"/>
            <a:ext cx="5425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Leaderboard UI Refinements</a:t>
            </a:r>
          </a:p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Itinerary builder UI Refinements</a:t>
            </a:r>
          </a:p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Itinerary sharing</a:t>
            </a:r>
          </a:p>
          <a:p>
            <a:pPr marL="0" indent="0">
              <a:buNone/>
            </a:pPr>
            <a:r>
              <a:rPr lang="en-US" sz="1600">
                <a:solidFill>
                  <a:srgbClr val="E8EDF2"/>
                </a:solidFill>
              </a:rPr>
              <a:t>Social sharing feature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12253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14400"/>
            <a:ext cx="10972800" cy="2255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6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9600">
              <a:latin typeface="Arial Black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310896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i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Feature Walkthrough</a:t>
            </a:r>
            <a:endParaRPr lang="en-US" sz="2667"/>
          </a:p>
        </p:txBody>
      </p:sp>
      <p:sp>
        <p:nvSpPr>
          <p:cNvPr id="4" name="Shape 2"/>
          <p:cNvSpPr/>
          <p:nvPr/>
        </p:nvSpPr>
        <p:spPr>
          <a:xfrm>
            <a:off x="670560" y="3962400"/>
            <a:ext cx="2535936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670560" y="4023360"/>
            <a:ext cx="2535936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>
                <a:solidFill>
                  <a:srgbClr val="E861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/>
          </a:p>
        </p:txBody>
      </p:sp>
      <p:sp>
        <p:nvSpPr>
          <p:cNvPr id="6" name="Text 4"/>
          <p:cNvSpPr/>
          <p:nvPr/>
        </p:nvSpPr>
        <p:spPr>
          <a:xfrm>
            <a:off x="670560" y="4828032"/>
            <a:ext cx="2535936" cy="11948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OAuth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Login)</a:t>
            </a:r>
            <a:endParaRPr lang="en-US" sz="1467"/>
          </a:p>
        </p:txBody>
      </p:sp>
      <p:sp>
        <p:nvSpPr>
          <p:cNvPr id="7" name="Shape 5"/>
          <p:cNvSpPr/>
          <p:nvPr/>
        </p:nvSpPr>
        <p:spPr>
          <a:xfrm>
            <a:off x="3450336" y="3962400"/>
            <a:ext cx="2535936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3450336" y="4023360"/>
            <a:ext cx="2535936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>
                <a:solidFill>
                  <a:srgbClr val="E861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/>
          </a:p>
        </p:txBody>
      </p:sp>
      <p:sp>
        <p:nvSpPr>
          <p:cNvPr id="9" name="Text 7"/>
          <p:cNvSpPr/>
          <p:nvPr/>
        </p:nvSpPr>
        <p:spPr>
          <a:xfrm>
            <a:off x="3450336" y="4828032"/>
            <a:ext cx="2535936" cy="11948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Map &amp;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467"/>
          </a:p>
        </p:txBody>
      </p:sp>
      <p:sp>
        <p:nvSpPr>
          <p:cNvPr id="10" name="Shape 8"/>
          <p:cNvSpPr/>
          <p:nvPr/>
        </p:nvSpPr>
        <p:spPr>
          <a:xfrm>
            <a:off x="6230112" y="3962400"/>
            <a:ext cx="2535936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6230112" y="4023360"/>
            <a:ext cx="2535936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>
                <a:solidFill>
                  <a:srgbClr val="E861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/>
          </a:p>
        </p:txBody>
      </p:sp>
      <p:sp>
        <p:nvSpPr>
          <p:cNvPr id="12" name="Text 10"/>
          <p:cNvSpPr/>
          <p:nvPr/>
        </p:nvSpPr>
        <p:spPr>
          <a:xfrm>
            <a:off x="6230112" y="4828032"/>
            <a:ext cx="2535936" cy="11948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Unlock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467"/>
          </a:p>
        </p:txBody>
      </p:sp>
      <p:sp>
        <p:nvSpPr>
          <p:cNvPr id="13" name="Shape 11"/>
          <p:cNvSpPr/>
          <p:nvPr/>
        </p:nvSpPr>
        <p:spPr>
          <a:xfrm>
            <a:off x="9009888" y="3962400"/>
            <a:ext cx="2535936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9009888" y="4023360"/>
            <a:ext cx="2535936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>
                <a:solidFill>
                  <a:srgbClr val="E861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9009888" y="4828032"/>
            <a:ext cx="2535936" cy="11948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339936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1057</Words>
  <Application>Microsoft Office PowerPoint</Application>
  <PresentationFormat>Widescreen</PresentationFormat>
  <Paragraphs>191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Oliver Skoczylas</cp:lastModifiedBy>
  <cp:revision>2</cp:revision>
  <dcterms:created xsi:type="dcterms:W3CDTF">2026-04-20T17:48:24Z</dcterms:created>
  <dcterms:modified xsi:type="dcterms:W3CDTF">2026-04-21T18:04:47Z</dcterms:modified>
</cp:coreProperties>
</file>